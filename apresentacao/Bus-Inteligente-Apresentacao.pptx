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Bus Inteligente: plataforma de rastreamento de ônibus em tempo real para Aracaju/SE. Proposta central: o passageiro não instala nada — escaneia o QR no ponto e vê a previsão de chegada ao vivo.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problema é a falta de informação em tempo real: espera às cegas, sensação de insegurança e baixa adesão ao transporte público.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solução: acesso por QR Code no ponto. Modelo já usado em NSW (Austrália), Singapura e cidades da UE. Três passos, nenhuma instalação.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Três frentes: passageiro (PWA por QR), motorista (app que transmite GPS) e gestão (painel de operação). Todas conversam com o mesmo backend e banco.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Motoristas transmitem GPS ao backend; o backend guarda a última posição, calcula ETA e difunde por WebSocket a passageiros e gestão. Tudo persistido no Directus. Consome 1x, publica para muitos.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Métricas técnicas: WebSocket entrega a posição em ~0,1s; frescor de dados alinhado ao GTFS-Realtime (≤30s, nunca &gt;90s sem aviso). Nasce interoperável com o ecossistema GTFS e é uma PWA.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Sete metas entregues de ponta a ponta: infraestrutura/Directus, backend tempo real, app do motorista, PWA do passageiro, serviço de QR, painel de gestão e ETA v2 + GTFS. Todas testadas.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Números do piloto: 7/7 metas, ETA v2 ~50% mais preciso em backtest, latência 0,1s, acessibilidade 92, feeds GTFS-RT sem erros de validação, todos os fluxos verificados no navegador.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Piloto no corredor Centro–Atalaia: 8 pontos, 2 veículos, ida e volta. Observação: coordenadas dos pontos são aproximadas e devem ser validadas com o itinerário oficial da SMTT antes de imprimir os QR definitivos.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Status: backend no ar na VPS, passageiro e gestão operando, QR válidos. Próximos passos: HTTPS via Cloudflare Tunnel (destrava GPS do motorista), validação das coordenadas com a SMTT, expansão de linhas e publicação do feed GTFS.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Fechamento: a visão do projeto — transporte público transparente e previsível para a população de Aracaju.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2.png"/><Relationship Id="rId4" Type="http://schemas.openxmlformats.org/officeDocument/2006/relationships/image" Target="../media/image-9-2.png"/><Relationship Id="rId5" Type="http://schemas.openxmlformats.org/officeDocument/2006/relationships/image" Target="../media/image-9-2.png"/><Relationship Id="rId6" Type="http://schemas.openxmlformats.org/officeDocument/2006/relationships/image" Target="../media/image-9-2.png"/><Relationship Id="rId7" Type="http://schemas.openxmlformats.org/officeDocument/2006/relationships/image" Target="../media/image-9-2.png"/><Relationship Id="rId8" Type="http://schemas.openxmlformats.org/officeDocument/2006/relationships/image" Target="../media/image-9-2.png"/><Relationship Id="rId9" Type="http://schemas.openxmlformats.org/officeDocument/2006/relationships/image" Target="../media/image-9-2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1.png"/><Relationship Id="rId3" Type="http://schemas.openxmlformats.org/officeDocument/2006/relationships/image" Target="../media/image-10-1.png"/><Relationship Id="rId4" Type="http://schemas.openxmlformats.org/officeDocument/2006/relationships/image" Target="../media/image-10-1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2011680"/>
            <a:ext cx="4937760" cy="4937760"/>
          </a:xfrm>
          <a:prstGeom prst="ellipse">
            <a:avLst/>
          </a:prstGeom>
          <a:solidFill>
            <a:srgbClr val="15364F"/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4206240"/>
            <a:ext cx="3840480" cy="3840480"/>
          </a:xfrm>
          <a:prstGeom prst="ellipse">
            <a:avLst/>
          </a:prstGeom>
          <a:solidFill>
            <a:srgbClr val="112B41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731520"/>
            <a:ext cx="1051560" cy="1051560"/>
          </a:xfrm>
          <a:prstGeom prst="ellipse">
            <a:avLst/>
          </a:prstGeom>
          <a:solidFill>
            <a:srgbClr val="F5A623"/>
          </a:solidFill>
          <a:ln/>
          <a:effectLst>
            <a:outerShdw sx="100000" sy="100000" kx="0" ky="0" algn="bl" rotWithShape="0" blurRad="114300" dist="38100" dir="5400000">
              <a:srgbClr val="9DB2C6">
                <a:alpha val="30000"/>
              </a:srgbClr>
            </a:outerShdw>
          </a:effectLst>
        </p:spPr>
      </p:sp>
      <p:pic>
        <p:nvPicPr>
          <p:cNvPr id="5" name="Image 0" descr="icons/bus-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9614" y="983894"/>
            <a:ext cx="546811" cy="54681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1965960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Inteligente</a:t>
            </a:r>
            <a:endParaRPr lang="en-US" sz="6000" dirty="0"/>
          </a:p>
        </p:txBody>
      </p:sp>
      <p:sp>
        <p:nvSpPr>
          <p:cNvPr id="7" name="Text 4"/>
          <p:cNvSpPr/>
          <p:nvPr/>
        </p:nvSpPr>
        <p:spPr>
          <a:xfrm>
            <a:off x="777240" y="30632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Acompanhamento do ônibus público em tempo real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77240" y="370332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Aracaju</a:t>
            </a:r>
            <a:pPr indent="0" marL="0">
              <a:buNone/>
            </a:pPr>
            <a:r>
              <a:rPr lang="en-US" sz="16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Sergipe  ·  Brasil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77240" y="5257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B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instalar aplicativo — o passageiro escaneia o QR do ponto e vê o ônibus chegando.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22960" y="6126480"/>
            <a:ext cx="6583680" cy="0"/>
          </a:xfrm>
          <a:prstGeom prst="line">
            <a:avLst/>
          </a:prstGeom>
          <a:noFill/>
          <a:ln w="28575">
            <a:solidFill>
              <a:srgbClr val="4E7C9E"/>
            </a:solidFill>
            <a:prstDash val="dash"/>
          </a:ln>
        </p:spPr>
      </p:sp>
      <p:sp>
        <p:nvSpPr>
          <p:cNvPr id="11" name="Shape 8"/>
          <p:cNvSpPr/>
          <p:nvPr/>
        </p:nvSpPr>
        <p:spPr>
          <a:xfrm>
            <a:off x="758952" y="6062472"/>
            <a:ext cx="128016" cy="128016"/>
          </a:xfrm>
          <a:prstGeom prst="ellipse">
            <a:avLst/>
          </a:prstGeom>
          <a:solidFill>
            <a:srgbClr val="4E7C9E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953512" y="6062472"/>
            <a:ext cx="128016" cy="128016"/>
          </a:xfrm>
          <a:prstGeom prst="ellipse">
            <a:avLst/>
          </a:prstGeom>
          <a:solidFill>
            <a:srgbClr val="4E7C9E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148072" y="6062472"/>
            <a:ext cx="128016" cy="128016"/>
          </a:xfrm>
          <a:prstGeom prst="ellipse">
            <a:avLst/>
          </a:prstGeom>
          <a:solidFill>
            <a:srgbClr val="4E7C9E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342632" y="6062472"/>
            <a:ext cx="128016" cy="128016"/>
          </a:xfrm>
          <a:prstGeom prst="ellipse">
            <a:avLst/>
          </a:prstGeom>
          <a:solidFill>
            <a:srgbClr val="4E7C9E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648810" y="5870448"/>
            <a:ext cx="512064" cy="512064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16" name="Image 1" descr="icons/bus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6826" y="5998464"/>
            <a:ext cx="256032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1089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 de quem espera o ônibus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1371600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 o passageiro não sabe onde o ônibus está nem quanto falta para chegar. O resultado é espera às cegas — e menos gente usando o transporte público.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943600" y="1417320"/>
            <a:ext cx="5577840" cy="1371600"/>
          </a:xfrm>
          <a:prstGeom prst="roundRect">
            <a:avLst>
              <a:gd name="adj" fmla="val 6667"/>
            </a:avLst>
          </a:prstGeom>
          <a:solidFill>
            <a:srgbClr val="F4F8FB"/>
          </a:solidFill>
          <a:ln/>
          <a:effectLst>
            <a:outerShdw sx="100000" sy="100000" kx="0" ky="0" algn="bl" rotWithShape="0" blurRad="114300" dist="38100" dir="5400000">
              <a:srgbClr val="9DB2C6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217920" y="1728216"/>
            <a:ext cx="749808" cy="749808"/>
          </a:xfrm>
          <a:prstGeom prst="ellipse">
            <a:avLst/>
          </a:prstGeom>
          <a:solidFill>
            <a:srgbClr val="0B5FA5"/>
          </a:solidFill>
          <a:ln/>
        </p:spPr>
      </p:sp>
      <p:pic>
        <p:nvPicPr>
          <p:cNvPr id="7" name="Image 0" descr="icons/clock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5372" y="1915668"/>
            <a:ext cx="374904" cy="37490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178040" y="163677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 indefinida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178040" y="2020824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previsão, o passageiro chega cedo demais ou perde o ônibus.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943600" y="2990088"/>
            <a:ext cx="5577840" cy="1371600"/>
          </a:xfrm>
          <a:prstGeom prst="roundRect">
            <a:avLst>
              <a:gd name="adj" fmla="val 6667"/>
            </a:avLst>
          </a:prstGeom>
          <a:solidFill>
            <a:srgbClr val="F4F8FB"/>
          </a:solidFill>
          <a:ln/>
          <a:effectLst>
            <a:outerShdw sx="100000" sy="100000" kx="0" ky="0" algn="bl" rotWithShape="0" blurRad="114300" dist="38100" dir="5400000">
              <a:srgbClr val="9DB2C6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217920" y="3300984"/>
            <a:ext cx="749808" cy="749808"/>
          </a:xfrm>
          <a:prstGeom prst="ellipse">
            <a:avLst/>
          </a:prstGeom>
          <a:solidFill>
            <a:srgbClr val="0B5FA5"/>
          </a:solidFill>
          <a:ln/>
        </p:spPr>
      </p:sp>
      <p:pic>
        <p:nvPicPr>
          <p:cNvPr id="12" name="Image 1" descr="icons/eye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5372" y="3488436"/>
            <a:ext cx="374904" cy="37490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78040" y="320954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Insegurança no ponto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7178040" y="3593592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Esperar sem saber quanto falta expõe e desestimula, sobretudo à noite.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943600" y="4562856"/>
            <a:ext cx="5577840" cy="1371600"/>
          </a:xfrm>
          <a:prstGeom prst="roundRect">
            <a:avLst>
              <a:gd name="adj" fmla="val 6667"/>
            </a:avLst>
          </a:prstGeom>
          <a:solidFill>
            <a:srgbClr val="F4F8FB"/>
          </a:solidFill>
          <a:ln/>
          <a:effectLst>
            <a:outerShdw sx="100000" sy="100000" kx="0" ky="0" algn="bl" rotWithShape="0" blurRad="114300" dist="38100" dir="5400000">
              <a:srgbClr val="9DB2C6">
                <a:alpha val="3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217920" y="4873752"/>
            <a:ext cx="749808" cy="749808"/>
          </a:xfrm>
          <a:prstGeom prst="ellipse">
            <a:avLst/>
          </a:prstGeom>
          <a:solidFill>
            <a:srgbClr val="0B5FA5"/>
          </a:solidFill>
          <a:ln/>
        </p:spPr>
      </p:sp>
      <p:pic>
        <p:nvPicPr>
          <p:cNvPr id="17" name="Image 2" descr="icons/users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5372" y="5061204"/>
            <a:ext cx="374904" cy="37490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178040" y="478231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Baixa adesão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7178040" y="516636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imprevisibilidade afasta usuários do transporte coletivo.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1089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SOLUÇÃO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Escaneou, viu o ônibus chegando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58368" y="1554480"/>
            <a:ext cx="3520440" cy="3017520"/>
          </a:xfrm>
          <a:prstGeom prst="roundRect">
            <a:avLst>
              <a:gd name="adj" fmla="val 3636"/>
            </a:avLst>
          </a:prstGeom>
          <a:solidFill>
            <a:srgbClr val="15364F"/>
          </a:solidFill>
          <a:ln/>
          <a:effectLst>
            <a:outerShdw sx="100000" sy="100000" kx="0" ky="0" algn="bl" rotWithShape="0" blurRad="127000" dist="38100" dir="5400000">
              <a:srgbClr val="05121F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78408" y="1874520"/>
            <a:ext cx="960120" cy="960120"/>
          </a:xfrm>
          <a:prstGeom prst="ellipse">
            <a:avLst/>
          </a:prstGeom>
          <a:solidFill>
            <a:srgbClr val="0B5FA5"/>
          </a:solidFill>
          <a:ln/>
        </p:spPr>
      </p:sp>
      <p:pic>
        <p:nvPicPr>
          <p:cNvPr id="6" name="Image 0" descr="icons/qr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8438" y="2114550"/>
            <a:ext cx="480060" cy="4800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78408" y="29718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Escaneia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978408" y="342900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Aponta a câmera do celular para o QR do ponto de ônibus.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425696" y="1554480"/>
            <a:ext cx="3520440" cy="3017520"/>
          </a:xfrm>
          <a:prstGeom prst="roundRect">
            <a:avLst>
              <a:gd name="adj" fmla="val 3636"/>
            </a:avLst>
          </a:prstGeom>
          <a:solidFill>
            <a:srgbClr val="15364F"/>
          </a:solidFill>
          <a:ln/>
          <a:effectLst>
            <a:outerShdw sx="100000" sy="100000" kx="0" ky="0" algn="bl" rotWithShape="0" blurRad="127000" dist="38100" dir="5400000">
              <a:srgbClr val="05121F">
                <a:alpha val="5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45736" y="1874520"/>
            <a:ext cx="960120" cy="960120"/>
          </a:xfrm>
          <a:prstGeom prst="ellipse">
            <a:avLst/>
          </a:prstGeom>
          <a:solidFill>
            <a:srgbClr val="0B5FA5"/>
          </a:solidFill>
          <a:ln/>
        </p:spPr>
      </p:sp>
      <p:pic>
        <p:nvPicPr>
          <p:cNvPr id="11" name="Image 1" descr="icons/mobile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5766" y="2114550"/>
            <a:ext cx="480060" cy="4800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45736" y="29718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Abre no navegador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4745736" y="342900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página abre na hora. Sem baixar app, sem login.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8193024" y="1554480"/>
            <a:ext cx="3520440" cy="3017520"/>
          </a:xfrm>
          <a:prstGeom prst="roundRect">
            <a:avLst>
              <a:gd name="adj" fmla="val 3636"/>
            </a:avLst>
          </a:prstGeom>
          <a:solidFill>
            <a:srgbClr val="15364F"/>
          </a:solidFill>
          <a:ln/>
          <a:effectLst>
            <a:outerShdw sx="100000" sy="100000" kx="0" ky="0" algn="bl" rotWithShape="0" blurRad="127000" dist="38100" dir="5400000">
              <a:srgbClr val="05121F">
                <a:alpha val="5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513064" y="1874520"/>
            <a:ext cx="960120" cy="96012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16" name="Image 2" descr="icons/bus-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3094" y="2114550"/>
            <a:ext cx="480060" cy="4800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13064" y="29718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Vê ao vivo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8513064" y="342900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Linhas do ponto, previsão de chegada e o ônibus no mapa.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658368" y="5029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fricção:  </a:t>
            </a:r>
            <a:pPr algn="ctr" indent="0" marL="0">
              <a:buNone/>
            </a:pPr>
            <a:r>
              <a:rPr lang="en-US" sz="16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instalar app · sem cadastro · funciona em qualquer celular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1089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aplicativos, um só sistema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58368" y="1417320"/>
            <a:ext cx="3520440" cy="4343400"/>
          </a:xfrm>
          <a:prstGeom prst="roundRect">
            <a:avLst>
              <a:gd name="adj" fmla="val 3117"/>
            </a:avLst>
          </a:prstGeom>
          <a:solidFill>
            <a:srgbClr val="F4F8FB"/>
          </a:solidFill>
          <a:ln/>
          <a:effectLst>
            <a:outerShdw sx="100000" sy="100000" kx="0" ky="0" algn="bl" rotWithShape="0" blurRad="114300" dist="38100" dir="5400000">
              <a:srgbClr val="9DB2C6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24128" y="1737360"/>
            <a:ext cx="914400" cy="914400"/>
          </a:xfrm>
          <a:prstGeom prst="ellipse">
            <a:avLst/>
          </a:prstGeom>
          <a:solidFill>
            <a:srgbClr val="0B5FA5"/>
          </a:solidFill>
          <a:ln/>
        </p:spPr>
      </p:sp>
      <p:pic>
        <p:nvPicPr>
          <p:cNvPr id="6" name="Image 0" descr="icons/users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2728" y="196596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75688" y="19202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Passageiro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1042416" y="2880360"/>
            <a:ext cx="2880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por QR, sem instalar</a:t>
            </a:r>
            <a:endParaRPr lang="en-US" sz="135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Previsão de chegada (ETA)</a:t>
            </a:r>
            <a:endParaRPr lang="en-US" sz="135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ao vivo e avisos</a:t>
            </a:r>
            <a:endParaRPr lang="en-US" sz="135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Favoritos no aparelho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425696" y="1417320"/>
            <a:ext cx="3520440" cy="4343400"/>
          </a:xfrm>
          <a:prstGeom prst="roundRect">
            <a:avLst>
              <a:gd name="adj" fmla="val 3117"/>
            </a:avLst>
          </a:prstGeom>
          <a:solidFill>
            <a:srgbClr val="F4F8FB"/>
          </a:solidFill>
          <a:ln/>
          <a:effectLst>
            <a:outerShdw sx="100000" sy="100000" kx="0" ky="0" algn="bl" rotWithShape="0" blurRad="114300" dist="38100" dir="5400000">
              <a:srgbClr val="9DB2C6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173736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icons/idcard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0056" y="196596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843016" y="19202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Motorista</a:t>
            </a:r>
            <a:endParaRPr lang="en-US" sz="2100" dirty="0"/>
          </a:p>
        </p:txBody>
      </p:sp>
      <p:sp>
        <p:nvSpPr>
          <p:cNvPr id="13" name="Text 9"/>
          <p:cNvSpPr/>
          <p:nvPr/>
        </p:nvSpPr>
        <p:spPr>
          <a:xfrm>
            <a:off x="4809744" y="2880360"/>
            <a:ext cx="2880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por PIN, turno simples</a:t>
            </a:r>
            <a:endParaRPr lang="en-US" sz="135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transmite automático</a:t>
            </a:r>
            <a:endParaRPr lang="en-US" sz="135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offline (sem sinal)</a:t>
            </a:r>
            <a:endParaRPr lang="en-US" sz="135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Recebe avisos da operação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8193024" y="1417320"/>
            <a:ext cx="3520440" cy="4343400"/>
          </a:xfrm>
          <a:prstGeom prst="roundRect">
            <a:avLst>
              <a:gd name="adj" fmla="val 3117"/>
            </a:avLst>
          </a:prstGeom>
          <a:solidFill>
            <a:srgbClr val="F4F8FB"/>
          </a:solidFill>
          <a:ln/>
          <a:effectLst>
            <a:outerShdw sx="100000" sy="100000" kx="0" ky="0" algn="bl" rotWithShape="0" blurRad="114300" dist="38100" dir="5400000">
              <a:srgbClr val="9DB2C6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558784" y="1737360"/>
            <a:ext cx="914400" cy="91440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16" name="Image 2" descr="icons/chart-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7384" y="196596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610344" y="19202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</a:t>
            </a:r>
            <a:endParaRPr lang="en-US" sz="2100" dirty="0"/>
          </a:p>
        </p:txBody>
      </p:sp>
      <p:sp>
        <p:nvSpPr>
          <p:cNvPr id="18" name="Text 13"/>
          <p:cNvSpPr/>
          <p:nvPr/>
        </p:nvSpPr>
        <p:spPr>
          <a:xfrm>
            <a:off x="8577072" y="2880360"/>
            <a:ext cx="2880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Frota ao vivo no mapa</a:t>
            </a:r>
            <a:endParaRPr lang="en-US" sz="135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e avisos</a:t>
            </a:r>
            <a:endParaRPr lang="en-US" sz="135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(KPIs)</a:t>
            </a:r>
            <a:endParaRPr lang="en-US" sz="135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de trajeto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1089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58368" y="1600200"/>
            <a:ext cx="3200400" cy="1371600"/>
          </a:xfrm>
          <a:prstGeom prst="roundRect">
            <a:avLst>
              <a:gd name="adj" fmla="val 6667"/>
            </a:avLst>
          </a:prstGeom>
          <a:solidFill>
            <a:srgbClr val="F4F8FB"/>
          </a:solidFill>
          <a:ln/>
          <a:effectLst>
            <a:outerShdw sx="100000" sy="100000" kx="0" ky="0" algn="bl" rotWithShape="0" blurRad="114300" dist="38100" dir="5400000">
              <a:srgbClr val="9DB2C6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86968" y="1901952"/>
            <a:ext cx="768096" cy="76809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icons/idcard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2093976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55648" y="185623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Motorista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755648" y="2258568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 GPS a cada 5–15s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58368" y="3977640"/>
            <a:ext cx="3200400" cy="1371600"/>
          </a:xfrm>
          <a:prstGeom prst="roundRect">
            <a:avLst>
              <a:gd name="adj" fmla="val 6667"/>
            </a:avLst>
          </a:prstGeom>
          <a:solidFill>
            <a:srgbClr val="F4F8FB"/>
          </a:solidFill>
          <a:ln/>
          <a:effectLst>
            <a:outerShdw sx="100000" sy="100000" kx="0" ky="0" algn="bl" rotWithShape="0" blurRad="114300" dist="38100" dir="5400000">
              <a:srgbClr val="9DB2C6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86968" y="4279392"/>
            <a:ext cx="768096" cy="768096"/>
          </a:xfrm>
          <a:prstGeom prst="ellipse">
            <a:avLst/>
          </a:prstGeom>
          <a:solidFill>
            <a:srgbClr val="0B5FA5"/>
          </a:solidFill>
          <a:ln/>
        </p:spPr>
      </p:sp>
      <p:pic>
        <p:nvPicPr>
          <p:cNvPr id="11" name="Image 1" descr="icons/users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4471416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755648" y="423367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Passageiro / Gestão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1755648" y="4636008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Recebem em tempo real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4526280" y="2788920"/>
            <a:ext cx="3246120" cy="1371600"/>
          </a:xfrm>
          <a:prstGeom prst="roundRect">
            <a:avLst>
              <a:gd name="adj" fmla="val 6667"/>
            </a:avLst>
          </a:prstGeom>
          <a:solidFill>
            <a:srgbClr val="0D2137"/>
          </a:solidFill>
          <a:ln/>
          <a:effectLst>
            <a:outerShdw sx="100000" sy="100000" kx="0" ky="0" algn="bl" rotWithShape="0" blurRad="114300" dist="38100" dir="5400000">
              <a:srgbClr val="9DB2C6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754880" y="3090672"/>
            <a:ext cx="768096" cy="768096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16" name="Image 2" descr="icons/bolt-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6904" y="3282696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623560" y="304495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tempo real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5623560" y="344728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Ingestão · WebSocket · ETA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8412480" y="2788920"/>
            <a:ext cx="3108960" cy="1371600"/>
          </a:xfrm>
          <a:prstGeom prst="roundRect">
            <a:avLst>
              <a:gd name="adj" fmla="val 6667"/>
            </a:avLst>
          </a:prstGeom>
          <a:solidFill>
            <a:srgbClr val="0B5FA5"/>
          </a:solidFill>
          <a:ln/>
          <a:effectLst>
            <a:outerShdw sx="100000" sy="100000" kx="0" ky="0" algn="bl" rotWithShape="0" blurRad="114300" dist="38100" dir="5400000">
              <a:srgbClr val="9DB2C6">
                <a:alpha val="3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641080" y="3090672"/>
            <a:ext cx="768096" cy="76809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icons/database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3104" y="3282696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509760" y="304495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Directus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9509760" y="3447288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· API · Auth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3858768" y="2286000"/>
            <a:ext cx="640080" cy="96012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5" name="Shape 19"/>
          <p:cNvSpPr/>
          <p:nvPr/>
        </p:nvSpPr>
        <p:spPr>
          <a:xfrm>
            <a:off x="3858768" y="4206240"/>
            <a:ext cx="640080" cy="-685800"/>
          </a:xfrm>
          <a:prstGeom prst="line">
            <a:avLst/>
          </a:prstGeom>
          <a:noFill/>
          <a:ln w="31750">
            <a:solidFill>
              <a:srgbClr val="0B5FA5"/>
            </a:solidFill>
            <a:prstDash val="solid"/>
            <a:tailEnd type="triangle"/>
          </a:ln>
        </p:spPr>
      </p:sp>
      <p:sp>
        <p:nvSpPr>
          <p:cNvPr id="26" name="Shape 20"/>
          <p:cNvSpPr/>
          <p:nvPr/>
        </p:nvSpPr>
        <p:spPr>
          <a:xfrm>
            <a:off x="7772400" y="3474720"/>
            <a:ext cx="640080" cy="0"/>
          </a:xfrm>
          <a:prstGeom prst="line">
            <a:avLst/>
          </a:prstGeom>
          <a:noFill/>
          <a:ln w="31750">
            <a:solidFill>
              <a:srgbClr val="0D2137"/>
            </a:solidFill>
            <a:prstDash val="solid"/>
            <a:tailEnd type="triangle"/>
          </a:ln>
        </p:spPr>
      </p:sp>
      <p:sp>
        <p:nvSpPr>
          <p:cNvPr id="27" name="Text 21"/>
          <p:cNvSpPr/>
          <p:nvPr/>
        </p:nvSpPr>
        <p:spPr>
          <a:xfrm>
            <a:off x="3794760" y="23317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</a:t>
            </a:r>
            <a:endParaRPr lang="en-US" sz="950" dirty="0"/>
          </a:p>
        </p:txBody>
      </p:sp>
      <p:sp>
        <p:nvSpPr>
          <p:cNvPr id="28" name="Text 22"/>
          <p:cNvSpPr/>
          <p:nvPr/>
        </p:nvSpPr>
        <p:spPr>
          <a:xfrm>
            <a:off x="3108960" y="36118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/ polling</a:t>
            </a:r>
            <a:endParaRPr lang="en-US" sz="950" dirty="0"/>
          </a:p>
        </p:txBody>
      </p:sp>
      <p:sp>
        <p:nvSpPr>
          <p:cNvPr id="29" name="Text 23"/>
          <p:cNvSpPr/>
          <p:nvPr/>
        </p:nvSpPr>
        <p:spPr>
          <a:xfrm>
            <a:off x="658368" y="5806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 de escala:  </a:t>
            </a:r>
            <a:pPr indent="0" marL="0">
              <a:buNone/>
            </a:pPr>
            <a:r>
              <a:rPr lang="en-US" sz="1350" dirty="0">
                <a:solidFill>
                  <a:srgbClr val="5C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backend consome a posição uma vez e distribui para milhares de leitores.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1089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real e padrões abertos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58368" y="1600200"/>
            <a:ext cx="5349240" cy="1874520"/>
          </a:xfrm>
          <a:prstGeom prst="roundRect">
            <a:avLst>
              <a:gd name="adj" fmla="val 5854"/>
            </a:avLst>
          </a:prstGeom>
          <a:solidFill>
            <a:srgbClr val="15364F"/>
          </a:solidFill>
          <a:ln/>
          <a:effectLst>
            <a:outerShdw sx="100000" sy="100000" kx="0" ky="0" algn="bl" rotWithShape="0" blurRad="127000" dist="38100" dir="5400000">
              <a:srgbClr val="05121F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24128" y="2103120"/>
            <a:ext cx="868680" cy="86868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6" name="Image 0" descr="icons/bolt-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1298" y="2320290"/>
            <a:ext cx="434340" cy="4343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21408" y="1856232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0,1s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2148840" y="2587752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latência do broadcast em tempo real (WebSocket)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36208" y="1600200"/>
            <a:ext cx="5349240" cy="1874520"/>
          </a:xfrm>
          <a:prstGeom prst="roundRect">
            <a:avLst>
              <a:gd name="adj" fmla="val 5854"/>
            </a:avLst>
          </a:prstGeom>
          <a:solidFill>
            <a:srgbClr val="15364F"/>
          </a:solidFill>
          <a:ln/>
          <a:effectLst>
            <a:outerShdw sx="100000" sy="100000" kx="0" ky="0" algn="bl" rotWithShape="0" blurRad="127000" dist="38100" dir="5400000">
              <a:srgbClr val="05121F">
                <a:alpha val="5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01968" y="2103120"/>
            <a:ext cx="868680" cy="86868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11" name="Image 1" descr="icons/wifi-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9138" y="2320290"/>
            <a:ext cx="434340" cy="4343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99248" y="1856232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30s</a:t>
            </a:r>
            <a:endParaRPr lang="en-US" sz="3400" dirty="0"/>
          </a:p>
        </p:txBody>
      </p:sp>
      <p:sp>
        <p:nvSpPr>
          <p:cNvPr id="13" name="Text 9"/>
          <p:cNvSpPr/>
          <p:nvPr/>
        </p:nvSpPr>
        <p:spPr>
          <a:xfrm>
            <a:off x="7726680" y="2587752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atualização de posição, com marcação de “sinal perdido”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58368" y="3749040"/>
            <a:ext cx="5349240" cy="1874520"/>
          </a:xfrm>
          <a:prstGeom prst="roundRect">
            <a:avLst>
              <a:gd name="adj" fmla="val 5854"/>
            </a:avLst>
          </a:prstGeom>
          <a:solidFill>
            <a:srgbClr val="15364F"/>
          </a:solidFill>
          <a:ln/>
          <a:effectLst>
            <a:outerShdw sx="100000" sy="100000" kx="0" ky="0" algn="bl" rotWithShape="0" blurRad="127000" dist="38100" dir="5400000">
              <a:srgbClr val="05121F">
                <a:alpha val="5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1024128" y="4251960"/>
            <a:ext cx="868680" cy="86868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16" name="Image 2" descr="icons/globe-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1298" y="4469130"/>
            <a:ext cx="434340" cy="4343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121408" y="4005072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GTFS</a:t>
            </a:r>
            <a:endParaRPr lang="en-US" sz="3400" dirty="0"/>
          </a:p>
        </p:txBody>
      </p:sp>
      <p:sp>
        <p:nvSpPr>
          <p:cNvPr id="18" name="Text 13"/>
          <p:cNvSpPr/>
          <p:nvPr/>
        </p:nvSpPr>
        <p:spPr>
          <a:xfrm>
            <a:off x="2148840" y="4736592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compatível com GTFS e GTFS-Realtime (Google, Moovit)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236208" y="3749040"/>
            <a:ext cx="5349240" cy="1874520"/>
          </a:xfrm>
          <a:prstGeom prst="roundRect">
            <a:avLst>
              <a:gd name="adj" fmla="val 5854"/>
            </a:avLst>
          </a:prstGeom>
          <a:solidFill>
            <a:srgbClr val="15364F"/>
          </a:solidFill>
          <a:ln/>
          <a:effectLst>
            <a:outerShdw sx="100000" sy="100000" kx="0" ky="0" algn="bl" rotWithShape="0" blurRad="127000" dist="38100" dir="5400000">
              <a:srgbClr val="05121F">
                <a:alpha val="5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601968" y="4251960"/>
            <a:ext cx="868680" cy="86868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21" name="Image 3" descr="icons/mobile-in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9138" y="4469130"/>
            <a:ext cx="434340" cy="4343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99248" y="4005072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</a:t>
            </a:r>
            <a:endParaRPr lang="en-US" sz="3400" dirty="0"/>
          </a:p>
        </p:txBody>
      </p:sp>
      <p:sp>
        <p:nvSpPr>
          <p:cNvPr id="23" name="Text 17"/>
          <p:cNvSpPr/>
          <p:nvPr/>
        </p:nvSpPr>
        <p:spPr>
          <a:xfrm>
            <a:off x="7726680" y="4736592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instalação opcional; funciona offline com o último dado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1089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ESCOPO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já foi entregue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58368" y="155448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F4F8FB"/>
          </a:solidFill>
          <a:ln/>
          <a:effectLst>
            <a:outerShdw sx="100000" sy="100000" kx="0" ky="0" algn="bl" rotWithShape="0" blurRad="114300" dist="38100" dir="5400000">
              <a:srgbClr val="9DB2C6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810512"/>
            <a:ext cx="749808" cy="749808"/>
          </a:xfrm>
          <a:prstGeom prst="ellipse">
            <a:avLst/>
          </a:prstGeom>
          <a:solidFill>
            <a:srgbClr val="0B5FA5"/>
          </a:solidFill>
          <a:ln/>
        </p:spPr>
      </p:sp>
      <p:pic>
        <p:nvPicPr>
          <p:cNvPr id="6" name="Image 0" descr="icons/database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852" y="1997964"/>
            <a:ext cx="374904" cy="3749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63347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&amp; schema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914400" y="298094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Directus provisionado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447288" y="155448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F4F8FB"/>
          </a:solidFill>
          <a:ln/>
          <a:effectLst>
            <a:outerShdw sx="100000" sy="100000" kx="0" ky="0" algn="bl" rotWithShape="0" blurRad="114300" dist="38100" dir="5400000">
              <a:srgbClr val="9DB2C6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703320" y="1810512"/>
            <a:ext cx="749808" cy="749808"/>
          </a:xfrm>
          <a:prstGeom prst="ellipse">
            <a:avLst/>
          </a:prstGeom>
          <a:solidFill>
            <a:srgbClr val="0B5FA5"/>
          </a:solidFill>
          <a:ln/>
        </p:spPr>
      </p:sp>
      <p:pic>
        <p:nvPicPr>
          <p:cNvPr id="11" name="Image 1" descr="icons/bolt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0772" y="1997964"/>
            <a:ext cx="374904" cy="37490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03320" y="263347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tempo real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3703320" y="298094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Ingestão + WebSocket + ETA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236208" y="155448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F4F8FB"/>
          </a:solidFill>
          <a:ln/>
          <a:effectLst>
            <a:outerShdw sx="100000" sy="100000" kx="0" ky="0" algn="bl" rotWithShape="0" blurRad="114300" dist="38100" dir="5400000">
              <a:srgbClr val="9DB2C6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92240" y="1810512"/>
            <a:ext cx="749808" cy="749808"/>
          </a:xfrm>
          <a:prstGeom prst="ellipse">
            <a:avLst/>
          </a:prstGeom>
          <a:solidFill>
            <a:srgbClr val="0B5FA5"/>
          </a:solidFill>
          <a:ln/>
        </p:spPr>
      </p:sp>
      <p:pic>
        <p:nvPicPr>
          <p:cNvPr id="16" name="Image 2" descr="icons/idcard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9692" y="1997964"/>
            <a:ext cx="374904" cy="37490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92240" y="263347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do motorista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6492240" y="298094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Turno, GPS, buffer offline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9025128" y="155448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F4F8FB"/>
          </a:solidFill>
          <a:ln/>
          <a:effectLst>
            <a:outerShdw sx="100000" sy="100000" kx="0" ky="0" algn="bl" rotWithShape="0" blurRad="114300" dist="38100" dir="5400000">
              <a:srgbClr val="9DB2C6">
                <a:alpha val="3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281160" y="1810512"/>
            <a:ext cx="749808" cy="749808"/>
          </a:xfrm>
          <a:prstGeom prst="ellipse">
            <a:avLst/>
          </a:prstGeom>
          <a:solidFill>
            <a:srgbClr val="0B5FA5"/>
          </a:solidFill>
          <a:ln/>
        </p:spPr>
      </p:sp>
      <p:pic>
        <p:nvPicPr>
          <p:cNvPr id="21" name="Image 3" descr="icons/qr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8612" y="1997964"/>
            <a:ext cx="374904" cy="37490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81160" y="263347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do passageiro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9281160" y="298094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→ chegadas + mapa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658368" y="370332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F4F8FB"/>
          </a:solidFill>
          <a:ln/>
          <a:effectLst>
            <a:outerShdw sx="100000" sy="100000" kx="0" ky="0" algn="bl" rotWithShape="0" blurRad="114300" dist="38100" dir="5400000">
              <a:srgbClr val="9DB2C6">
                <a:alpha val="3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914400" y="3959352"/>
            <a:ext cx="749808" cy="749808"/>
          </a:xfrm>
          <a:prstGeom prst="ellipse">
            <a:avLst/>
          </a:prstGeom>
          <a:solidFill>
            <a:srgbClr val="0B5FA5"/>
          </a:solidFill>
          <a:ln/>
        </p:spPr>
      </p:sp>
      <p:pic>
        <p:nvPicPr>
          <p:cNvPr id="26" name="Image 4" descr="icons/map-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1852" y="4146804"/>
            <a:ext cx="374904" cy="37490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14400" y="478231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 de QR Code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914400" y="512978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Geração, PDF e contagem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3447288" y="370332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F4F8FB"/>
          </a:solidFill>
          <a:ln/>
          <a:effectLst>
            <a:outerShdw sx="100000" sy="100000" kx="0" ky="0" algn="bl" rotWithShape="0" blurRad="114300" dist="38100" dir="5400000">
              <a:srgbClr val="9DB2C6">
                <a:alpha val="3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3703320" y="3959352"/>
            <a:ext cx="749808" cy="749808"/>
          </a:xfrm>
          <a:prstGeom prst="ellipse">
            <a:avLst/>
          </a:prstGeom>
          <a:solidFill>
            <a:srgbClr val="0B5FA5"/>
          </a:solidFill>
          <a:ln/>
        </p:spPr>
      </p:sp>
      <p:pic>
        <p:nvPicPr>
          <p:cNvPr id="31" name="Image 5" descr="icons/chart-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90772" y="4146804"/>
            <a:ext cx="374904" cy="37490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703320" y="478231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de gestão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3703320" y="512978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Frota, escala, KPIs, replay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6236208" y="370332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F4F8FB"/>
          </a:solidFill>
          <a:ln/>
          <a:effectLst>
            <a:outerShdw sx="100000" sy="100000" kx="0" ky="0" algn="bl" rotWithShape="0" blurRad="114300" dist="38100" dir="5400000">
              <a:srgbClr val="9DB2C6">
                <a:alpha val="30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6492240" y="3959352"/>
            <a:ext cx="749808" cy="749808"/>
          </a:xfrm>
          <a:prstGeom prst="ellipse">
            <a:avLst/>
          </a:prstGeom>
          <a:solidFill>
            <a:srgbClr val="0B5FA5"/>
          </a:solidFill>
          <a:ln/>
        </p:spPr>
      </p:sp>
      <p:pic>
        <p:nvPicPr>
          <p:cNvPr id="36" name="Image 6" descr="icons/globe-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9692" y="4146804"/>
            <a:ext cx="374904" cy="374904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492240" y="478231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 v2 &amp; GTFS</a:t>
            </a:r>
            <a:endParaRPr lang="en-US" sz="1450" dirty="0"/>
          </a:p>
        </p:txBody>
      </p:sp>
      <p:sp>
        <p:nvSpPr>
          <p:cNvPr id="38" name="Text 29"/>
          <p:cNvSpPr/>
          <p:nvPr/>
        </p:nvSpPr>
        <p:spPr>
          <a:xfrm>
            <a:off x="6492240" y="512978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Previsão + feeds abertos</a:t>
            </a:r>
            <a:endParaRPr lang="en-US" sz="1100" dirty="0"/>
          </a:p>
        </p:txBody>
      </p:sp>
      <p:sp>
        <p:nvSpPr>
          <p:cNvPr id="39" name="Shape 30"/>
          <p:cNvSpPr/>
          <p:nvPr/>
        </p:nvSpPr>
        <p:spPr>
          <a:xfrm>
            <a:off x="9025128" y="370332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F5A623"/>
          </a:solidFill>
          <a:ln/>
          <a:effectLst>
            <a:outerShdw sx="100000" sy="100000" kx="0" ky="0" algn="bl" rotWithShape="0" blurRad="114300" dist="38100" dir="5400000">
              <a:srgbClr val="9DB2C6">
                <a:alpha val="30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9281160" y="3959352"/>
            <a:ext cx="749808" cy="749808"/>
          </a:xfrm>
          <a:prstGeom prst="ellipse">
            <a:avLst/>
          </a:prstGeom>
          <a:solidFill>
            <a:srgbClr val="0D2137"/>
          </a:solidFill>
          <a:ln/>
        </p:spPr>
      </p:sp>
      <p:pic>
        <p:nvPicPr>
          <p:cNvPr id="41" name="Image 7" descr="icons/check-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68612" y="4146804"/>
            <a:ext cx="374904" cy="374904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9281160" y="478231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de 7 metas</a:t>
            </a:r>
            <a:endParaRPr lang="en-US" sz="1450" dirty="0"/>
          </a:p>
        </p:txBody>
      </p:sp>
      <p:sp>
        <p:nvSpPr>
          <p:cNvPr id="43" name="Text 33"/>
          <p:cNvSpPr/>
          <p:nvPr/>
        </p:nvSpPr>
        <p:spPr>
          <a:xfrm>
            <a:off x="9281160" y="512978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4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concluídas e testadas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1089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NÚMEROS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do piloto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58368" y="173736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15364F"/>
          </a:solidFill>
          <a:ln/>
          <a:effectLst>
            <a:outerShdw sx="100000" sy="100000" kx="0" ky="0" algn="bl" rotWithShape="0" blurRad="127000" dist="38100" dir="5400000">
              <a:srgbClr val="05121F">
                <a:alpha val="5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86968" y="1993392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7/7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914400" y="290779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 concluídas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425696" y="173736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15364F"/>
          </a:solidFill>
          <a:ln/>
          <a:effectLst>
            <a:outerShdw sx="100000" sy="100000" kx="0" ky="0" algn="bl" rotWithShape="0" blurRad="127000" dist="38100" dir="5400000">
              <a:srgbClr val="05121F">
                <a:alpha val="5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54296" y="1993392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~50%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4681728" y="290779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 v2 mais preciso que o MVP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93024" y="173736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15364F"/>
          </a:solidFill>
          <a:ln/>
          <a:effectLst>
            <a:outerShdw sx="100000" sy="100000" kx="0" ky="0" algn="bl" rotWithShape="0" blurRad="127000" dist="38100" dir="5400000">
              <a:srgbClr val="05121F">
                <a:alpha val="5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421624" y="1993392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0,1s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8449056" y="290779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latência em tempo real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58368" y="388620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15364F"/>
          </a:solidFill>
          <a:ln/>
          <a:effectLst>
            <a:outerShdw sx="100000" sy="100000" kx="0" ky="0" algn="bl" rotWithShape="0" blurRad="127000" dist="38100" dir="5400000">
              <a:srgbClr val="05121F">
                <a:alpha val="5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86968" y="4142232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</a:t>
            </a:r>
            <a:endParaRPr lang="en-US" sz="4600" dirty="0"/>
          </a:p>
        </p:txBody>
      </p:sp>
      <p:sp>
        <p:nvSpPr>
          <p:cNvPr id="15" name="Text 13"/>
          <p:cNvSpPr/>
          <p:nvPr/>
        </p:nvSpPr>
        <p:spPr>
          <a:xfrm>
            <a:off x="914400" y="505663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acessibilidade (Lighthouse)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425696" y="388620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15364F"/>
          </a:solidFill>
          <a:ln/>
          <a:effectLst>
            <a:outerShdw sx="100000" sy="100000" kx="0" ky="0" algn="bl" rotWithShape="0" blurRad="127000" dist="38100" dir="5400000">
              <a:srgbClr val="05121F">
                <a:alpha val="5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54296" y="4142232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600" dirty="0"/>
          </a:p>
        </p:txBody>
      </p:sp>
      <p:sp>
        <p:nvSpPr>
          <p:cNvPr id="18" name="Text 16"/>
          <p:cNvSpPr/>
          <p:nvPr/>
        </p:nvSpPr>
        <p:spPr>
          <a:xfrm>
            <a:off x="4681728" y="505663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erros na validação GTFS-RT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193024" y="388620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15364F"/>
          </a:solidFill>
          <a:ln/>
          <a:effectLst>
            <a:outerShdw sx="100000" sy="100000" kx="0" ky="0" algn="bl" rotWithShape="0" blurRad="127000" dist="38100" dir="5400000">
              <a:srgbClr val="05121F">
                <a:alpha val="5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421624" y="4142232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600" dirty="0"/>
          </a:p>
        </p:txBody>
      </p:sp>
      <p:sp>
        <p:nvSpPr>
          <p:cNvPr id="21" name="Text 19"/>
          <p:cNvSpPr/>
          <p:nvPr/>
        </p:nvSpPr>
        <p:spPr>
          <a:xfrm>
            <a:off x="8449056" y="505663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fluxos testados no navegador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1089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Terminal do Centro ↔ Orla de Atalaia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58368" y="1508760"/>
            <a:ext cx="4114800" cy="4251960"/>
          </a:xfrm>
          <a:prstGeom prst="roundRect">
            <a:avLst>
              <a:gd name="adj" fmla="val 2667"/>
            </a:avLst>
          </a:prstGeom>
          <a:solidFill>
            <a:srgbClr val="0D2137"/>
          </a:solidFill>
          <a:ln/>
          <a:effectLst>
            <a:outerShdw sx="100000" sy="100000" kx="0" ky="0" algn="bl" rotWithShape="0" blurRad="114300" dist="38100" dir="5400000">
              <a:srgbClr val="9DB2C6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828800"/>
            <a:ext cx="914400" cy="91440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6" name="Image 0" descr="icons/route-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205740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11680" y="193852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CT-ATL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2011680" y="239572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corredor icônico de Aracaju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60120" y="30632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1828800" y="3154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60120" y="390448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1828800" y="39959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veículos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960120" y="4745736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1828800" y="483717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sentidos (ida e volta)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257800" y="1600200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16" name="Image 1" descr="icons/pin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7752" y="1670152"/>
            <a:ext cx="170993" cy="170993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5413248" y="1911096"/>
            <a:ext cx="0" cy="214884"/>
          </a:xfrm>
          <a:prstGeom prst="line">
            <a:avLst/>
          </a:prstGeom>
          <a:noFill/>
          <a:ln w="25400">
            <a:solidFill>
              <a:srgbClr val="D7E3EC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760720" y="1581912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do Centro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5257800" y="2125980"/>
            <a:ext cx="310896" cy="310896"/>
          </a:xfrm>
          <a:prstGeom prst="ellipse">
            <a:avLst/>
          </a:prstGeom>
          <a:solidFill>
            <a:srgbClr val="0B5FA5"/>
          </a:solidFill>
          <a:ln/>
        </p:spPr>
      </p:sp>
      <p:pic>
        <p:nvPicPr>
          <p:cNvPr id="20" name="Image 2" descr="icons/pin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7752" y="2195932"/>
            <a:ext cx="170993" cy="170993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5413248" y="2436876"/>
            <a:ext cx="0" cy="214884"/>
          </a:xfrm>
          <a:prstGeom prst="line">
            <a:avLst/>
          </a:prstGeom>
          <a:noFill/>
          <a:ln w="25400">
            <a:solidFill>
              <a:srgbClr val="D7E3EC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5760720" y="2107692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Praça General Valadão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5257800" y="2651760"/>
            <a:ext cx="310896" cy="310896"/>
          </a:xfrm>
          <a:prstGeom prst="ellipse">
            <a:avLst/>
          </a:prstGeom>
          <a:solidFill>
            <a:srgbClr val="0B5FA5"/>
          </a:solidFill>
          <a:ln/>
        </p:spPr>
      </p:sp>
      <p:pic>
        <p:nvPicPr>
          <p:cNvPr id="24" name="Image 3" descr="icons/pin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7752" y="2721712"/>
            <a:ext cx="170993" cy="170993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5413248" y="2962656"/>
            <a:ext cx="0" cy="214884"/>
          </a:xfrm>
          <a:prstGeom prst="line">
            <a:avLst/>
          </a:prstGeom>
          <a:noFill/>
          <a:ln w="25400">
            <a:solidFill>
              <a:srgbClr val="D7E3EC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5760720" y="2633472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Av. Ivo do Prado</a:t>
            </a:r>
            <a:endParaRPr lang="en-US" sz="1400" dirty="0"/>
          </a:p>
        </p:txBody>
      </p:sp>
      <p:sp>
        <p:nvSpPr>
          <p:cNvPr id="27" name="Shape 21"/>
          <p:cNvSpPr/>
          <p:nvPr/>
        </p:nvSpPr>
        <p:spPr>
          <a:xfrm>
            <a:off x="5257800" y="3177540"/>
            <a:ext cx="310896" cy="310896"/>
          </a:xfrm>
          <a:prstGeom prst="ellipse">
            <a:avLst/>
          </a:prstGeom>
          <a:solidFill>
            <a:srgbClr val="0B5FA5"/>
          </a:solidFill>
          <a:ln/>
        </p:spPr>
      </p:sp>
      <p:pic>
        <p:nvPicPr>
          <p:cNvPr id="28" name="Image 4" descr="icons/pin-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7752" y="3247492"/>
            <a:ext cx="170993" cy="170993"/>
          </a:xfrm>
          <a:prstGeom prst="rect">
            <a:avLst/>
          </a:prstGeom>
        </p:spPr>
      </p:pic>
      <p:sp>
        <p:nvSpPr>
          <p:cNvPr id="29" name="Shape 22"/>
          <p:cNvSpPr/>
          <p:nvPr/>
        </p:nvSpPr>
        <p:spPr>
          <a:xfrm>
            <a:off x="5413248" y="3488436"/>
            <a:ext cx="0" cy="214884"/>
          </a:xfrm>
          <a:prstGeom prst="line">
            <a:avLst/>
          </a:prstGeom>
          <a:noFill/>
          <a:ln w="25400">
            <a:solidFill>
              <a:srgbClr val="D7E3EC"/>
            </a:solidFill>
            <a:prstDash val="solid"/>
          </a:ln>
        </p:spPr>
      </p:sp>
      <p:sp>
        <p:nvSpPr>
          <p:cNvPr id="30" name="Text 23"/>
          <p:cNvSpPr/>
          <p:nvPr/>
        </p:nvSpPr>
        <p:spPr>
          <a:xfrm>
            <a:off x="5760720" y="3159252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Coroa do Meio</a:t>
            </a:r>
            <a:endParaRPr lang="en-US" sz="1400" dirty="0"/>
          </a:p>
        </p:txBody>
      </p:sp>
      <p:sp>
        <p:nvSpPr>
          <p:cNvPr id="31" name="Shape 24"/>
          <p:cNvSpPr/>
          <p:nvPr/>
        </p:nvSpPr>
        <p:spPr>
          <a:xfrm>
            <a:off x="5257800" y="3703320"/>
            <a:ext cx="310896" cy="310896"/>
          </a:xfrm>
          <a:prstGeom prst="ellipse">
            <a:avLst/>
          </a:prstGeom>
          <a:solidFill>
            <a:srgbClr val="0B5FA5"/>
          </a:solidFill>
          <a:ln/>
        </p:spPr>
      </p:sp>
      <p:pic>
        <p:nvPicPr>
          <p:cNvPr id="32" name="Image 5" descr="icons/pin-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27752" y="3773272"/>
            <a:ext cx="170993" cy="170993"/>
          </a:xfrm>
          <a:prstGeom prst="rect">
            <a:avLst/>
          </a:prstGeom>
        </p:spPr>
      </p:pic>
      <p:sp>
        <p:nvSpPr>
          <p:cNvPr id="33" name="Shape 25"/>
          <p:cNvSpPr/>
          <p:nvPr/>
        </p:nvSpPr>
        <p:spPr>
          <a:xfrm>
            <a:off x="5413248" y="4014216"/>
            <a:ext cx="0" cy="214884"/>
          </a:xfrm>
          <a:prstGeom prst="line">
            <a:avLst/>
          </a:prstGeom>
          <a:noFill/>
          <a:ln w="25400">
            <a:solidFill>
              <a:srgbClr val="D7E3EC"/>
            </a:solidFill>
            <a:prstDash val="solid"/>
          </a:ln>
        </p:spPr>
      </p:sp>
      <p:sp>
        <p:nvSpPr>
          <p:cNvPr id="34" name="Text 26"/>
          <p:cNvSpPr/>
          <p:nvPr/>
        </p:nvSpPr>
        <p:spPr>
          <a:xfrm>
            <a:off x="5760720" y="3685032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Av. Santos Dumont</a:t>
            </a:r>
            <a:endParaRPr lang="en-US" sz="1400" dirty="0"/>
          </a:p>
        </p:txBody>
      </p:sp>
      <p:sp>
        <p:nvSpPr>
          <p:cNvPr id="35" name="Shape 27"/>
          <p:cNvSpPr/>
          <p:nvPr/>
        </p:nvSpPr>
        <p:spPr>
          <a:xfrm>
            <a:off x="5257800" y="4229100"/>
            <a:ext cx="310896" cy="310896"/>
          </a:xfrm>
          <a:prstGeom prst="ellipse">
            <a:avLst/>
          </a:prstGeom>
          <a:solidFill>
            <a:srgbClr val="0B5FA5"/>
          </a:solidFill>
          <a:ln/>
        </p:spPr>
      </p:sp>
      <p:pic>
        <p:nvPicPr>
          <p:cNvPr id="36" name="Image 6" descr="icons/pin-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27752" y="4299052"/>
            <a:ext cx="170993" cy="170993"/>
          </a:xfrm>
          <a:prstGeom prst="rect">
            <a:avLst/>
          </a:prstGeom>
        </p:spPr>
      </p:pic>
      <p:sp>
        <p:nvSpPr>
          <p:cNvPr id="37" name="Shape 28"/>
          <p:cNvSpPr/>
          <p:nvPr/>
        </p:nvSpPr>
        <p:spPr>
          <a:xfrm>
            <a:off x="5413248" y="4539996"/>
            <a:ext cx="0" cy="214884"/>
          </a:xfrm>
          <a:prstGeom prst="line">
            <a:avLst/>
          </a:prstGeom>
          <a:noFill/>
          <a:ln w="25400">
            <a:solidFill>
              <a:srgbClr val="D7E3EC"/>
            </a:solidFill>
            <a:prstDash val="solid"/>
          </a:ln>
        </p:spPr>
      </p:sp>
      <p:sp>
        <p:nvSpPr>
          <p:cNvPr id="38" name="Text 29"/>
          <p:cNvSpPr/>
          <p:nvPr/>
        </p:nvSpPr>
        <p:spPr>
          <a:xfrm>
            <a:off x="5760720" y="4210812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Passarela do Caranguejo</a:t>
            </a:r>
            <a:endParaRPr lang="en-US" sz="1400" dirty="0"/>
          </a:p>
        </p:txBody>
      </p:sp>
      <p:sp>
        <p:nvSpPr>
          <p:cNvPr id="39" name="Shape 30"/>
          <p:cNvSpPr/>
          <p:nvPr/>
        </p:nvSpPr>
        <p:spPr>
          <a:xfrm>
            <a:off x="5257800" y="4754880"/>
            <a:ext cx="310896" cy="310896"/>
          </a:xfrm>
          <a:prstGeom prst="ellipse">
            <a:avLst/>
          </a:prstGeom>
          <a:solidFill>
            <a:srgbClr val="0B5FA5"/>
          </a:solidFill>
          <a:ln/>
        </p:spPr>
      </p:sp>
      <p:pic>
        <p:nvPicPr>
          <p:cNvPr id="40" name="Image 7" descr="icons/pin-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27752" y="4824832"/>
            <a:ext cx="170993" cy="170993"/>
          </a:xfrm>
          <a:prstGeom prst="rect">
            <a:avLst/>
          </a:prstGeom>
        </p:spPr>
      </p:pic>
      <p:sp>
        <p:nvSpPr>
          <p:cNvPr id="41" name="Shape 31"/>
          <p:cNvSpPr/>
          <p:nvPr/>
        </p:nvSpPr>
        <p:spPr>
          <a:xfrm>
            <a:off x="5413248" y="5065776"/>
            <a:ext cx="0" cy="214884"/>
          </a:xfrm>
          <a:prstGeom prst="line">
            <a:avLst/>
          </a:prstGeom>
          <a:noFill/>
          <a:ln w="25400">
            <a:solidFill>
              <a:srgbClr val="D7E3EC"/>
            </a:solidFill>
            <a:prstDash val="solid"/>
          </a:ln>
        </p:spPr>
      </p:sp>
      <p:sp>
        <p:nvSpPr>
          <p:cNvPr id="42" name="Text 32"/>
          <p:cNvSpPr/>
          <p:nvPr/>
        </p:nvSpPr>
        <p:spPr>
          <a:xfrm>
            <a:off x="5760720" y="4736592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Oceanário</a:t>
            </a:r>
            <a:endParaRPr lang="en-US" sz="1400" dirty="0"/>
          </a:p>
        </p:txBody>
      </p:sp>
      <p:sp>
        <p:nvSpPr>
          <p:cNvPr id="43" name="Shape 33"/>
          <p:cNvSpPr/>
          <p:nvPr/>
        </p:nvSpPr>
        <p:spPr>
          <a:xfrm>
            <a:off x="5257800" y="5280660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44" name="Image 8" descr="icons/pin-whit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27752" y="5350612"/>
            <a:ext cx="170993" cy="170993"/>
          </a:xfrm>
          <a:prstGeom prst="rect">
            <a:avLst/>
          </a:prstGeom>
        </p:spPr>
      </p:pic>
      <p:sp>
        <p:nvSpPr>
          <p:cNvPr id="45" name="Text 34"/>
          <p:cNvSpPr/>
          <p:nvPr/>
        </p:nvSpPr>
        <p:spPr>
          <a:xfrm>
            <a:off x="5760720" y="5262372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Orla — Final Atalaia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1089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AGORA E A SEGUIR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atual e próximos passos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58368" y="1463040"/>
            <a:ext cx="5257800" cy="4297680"/>
          </a:xfrm>
          <a:prstGeom prst="roundRect">
            <a:avLst>
              <a:gd name="adj" fmla="val 2553"/>
            </a:avLst>
          </a:prstGeom>
          <a:solidFill>
            <a:srgbClr val="F4F8FB"/>
          </a:solidFill>
          <a:ln/>
          <a:effectLst>
            <a:outerShdw sx="100000" sy="100000" kx="0" ky="0" algn="bl" rotWithShape="0" blurRad="114300" dist="38100" dir="5400000">
              <a:srgbClr val="9DB2C6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6916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60120" y="22402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icons/check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990" y="2343150"/>
            <a:ext cx="251460" cy="2514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222199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publicado na VPS (Coolify)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960120" y="299008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0" name="Image 1" descr="icons/check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990" y="3092958"/>
            <a:ext cx="251460" cy="2514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54480" y="29718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Passageiro e gestão funcionando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960120" y="3739896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2" descr="icons/check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990" y="3842766"/>
            <a:ext cx="251460" cy="2514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54480" y="372160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gerados e redirecionando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960120" y="4489704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3" descr="icons/check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2990" y="4592574"/>
            <a:ext cx="251460" cy="2514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554480" y="4471416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Directus com a linha-piloto</a:t>
            </a:r>
            <a:endParaRPr lang="en-US" sz="1350" dirty="0"/>
          </a:p>
        </p:txBody>
      </p:sp>
      <p:sp>
        <p:nvSpPr>
          <p:cNvPr id="18" name="Shape 12"/>
          <p:cNvSpPr/>
          <p:nvPr/>
        </p:nvSpPr>
        <p:spPr>
          <a:xfrm>
            <a:off x="6263640" y="1463040"/>
            <a:ext cx="5257800" cy="4297680"/>
          </a:xfrm>
          <a:prstGeom prst="roundRect">
            <a:avLst>
              <a:gd name="adj" fmla="val 2553"/>
            </a:avLst>
          </a:prstGeom>
          <a:solidFill>
            <a:srgbClr val="0D2137"/>
          </a:solidFill>
          <a:ln/>
          <a:effectLst>
            <a:outerShdw sx="100000" sy="100000" kx="0" ky="0" algn="bl" rotWithShape="0" blurRad="114300" dist="38100" dir="5400000">
              <a:srgbClr val="9DB2C6">
                <a:alpha val="30000"/>
              </a:srgbClr>
            </a:outerShdw>
          </a:effectLst>
        </p:spPr>
      </p:sp>
      <p:sp>
        <p:nvSpPr>
          <p:cNvPr id="19" name="Text 13"/>
          <p:cNvSpPr/>
          <p:nvPr/>
        </p:nvSpPr>
        <p:spPr>
          <a:xfrm>
            <a:off x="6583680" y="16916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seguir</a:t>
            </a:r>
            <a:endParaRPr lang="en-US" sz="1800" dirty="0"/>
          </a:p>
        </p:txBody>
      </p:sp>
      <p:sp>
        <p:nvSpPr>
          <p:cNvPr id="20" name="Shape 14"/>
          <p:cNvSpPr/>
          <p:nvPr/>
        </p:nvSpPr>
        <p:spPr>
          <a:xfrm>
            <a:off x="6583680" y="2240280"/>
            <a:ext cx="457200" cy="457200"/>
          </a:xfrm>
          <a:prstGeom prst="ellipse">
            <a:avLst/>
          </a:prstGeom>
          <a:solidFill>
            <a:srgbClr val="0B5FA5"/>
          </a:solidFill>
          <a:ln/>
        </p:spPr>
      </p:sp>
      <p:pic>
        <p:nvPicPr>
          <p:cNvPr id="21" name="Image 4" descr="icons/lock-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7980" y="2354580"/>
            <a:ext cx="228600" cy="2286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178040" y="219456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estável (Cloudflare Tunnel) — libera o GPS real do motorista</a:t>
            </a:r>
            <a:endParaRPr lang="en-US" sz="1250" dirty="0"/>
          </a:p>
        </p:txBody>
      </p:sp>
      <p:sp>
        <p:nvSpPr>
          <p:cNvPr id="23" name="Shape 16"/>
          <p:cNvSpPr/>
          <p:nvPr/>
        </p:nvSpPr>
        <p:spPr>
          <a:xfrm>
            <a:off x="6583680" y="2990088"/>
            <a:ext cx="457200" cy="457200"/>
          </a:xfrm>
          <a:prstGeom prst="ellipse">
            <a:avLst/>
          </a:prstGeom>
          <a:solidFill>
            <a:srgbClr val="0B5FA5"/>
          </a:solidFill>
          <a:ln/>
        </p:spPr>
      </p:sp>
      <p:pic>
        <p:nvPicPr>
          <p:cNvPr id="24" name="Image 5" descr="icons/pin-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7980" y="3104388"/>
            <a:ext cx="228600" cy="22860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7178040" y="2944368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coordenadas dos pontos com a SMTT</a:t>
            </a:r>
            <a:endParaRPr lang="en-US" sz="1250" dirty="0"/>
          </a:p>
        </p:txBody>
      </p:sp>
      <p:sp>
        <p:nvSpPr>
          <p:cNvPr id="26" name="Shape 18"/>
          <p:cNvSpPr/>
          <p:nvPr/>
        </p:nvSpPr>
        <p:spPr>
          <a:xfrm>
            <a:off x="6583680" y="3739896"/>
            <a:ext cx="457200" cy="457200"/>
          </a:xfrm>
          <a:prstGeom prst="ellipse">
            <a:avLst/>
          </a:prstGeom>
          <a:solidFill>
            <a:srgbClr val="0B5FA5"/>
          </a:solidFill>
          <a:ln/>
        </p:spPr>
      </p:sp>
      <p:pic>
        <p:nvPicPr>
          <p:cNvPr id="27" name="Image 6" descr="icons/route-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97980" y="3854196"/>
            <a:ext cx="228600" cy="22860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7178040" y="3694176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Ampliar para mais linhas de Aracaju</a:t>
            </a:r>
            <a:endParaRPr lang="en-US" sz="1250" dirty="0"/>
          </a:p>
        </p:txBody>
      </p:sp>
      <p:sp>
        <p:nvSpPr>
          <p:cNvPr id="29" name="Shape 20"/>
          <p:cNvSpPr/>
          <p:nvPr/>
        </p:nvSpPr>
        <p:spPr>
          <a:xfrm>
            <a:off x="6583680" y="4489704"/>
            <a:ext cx="457200" cy="457200"/>
          </a:xfrm>
          <a:prstGeom prst="ellipse">
            <a:avLst/>
          </a:prstGeom>
          <a:solidFill>
            <a:srgbClr val="0B5FA5"/>
          </a:solidFill>
          <a:ln/>
        </p:spPr>
      </p:sp>
      <p:pic>
        <p:nvPicPr>
          <p:cNvPr id="30" name="Image 7" descr="icons/globe-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97980" y="4604004"/>
            <a:ext cx="228600" cy="228600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7178040" y="4443984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Publicar feed GTFS para Google Maps / Moovit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023360"/>
            <a:ext cx="4754880" cy="4754880"/>
          </a:xfrm>
          <a:prstGeom prst="ellipse">
            <a:avLst/>
          </a:prstGeom>
          <a:solidFill>
            <a:srgbClr val="15364F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" y="1371600"/>
            <a:ext cx="960120" cy="960120"/>
          </a:xfrm>
          <a:prstGeom prst="ellipse">
            <a:avLst/>
          </a:prstGeom>
          <a:solidFill>
            <a:srgbClr val="F5A623"/>
          </a:solidFill>
          <a:ln/>
          <a:effectLst>
            <a:outerShdw sx="100000" sy="100000" kx="0" ky="0" algn="bl" rotWithShape="0" blurRad="114300" dist="38100" dir="5400000">
              <a:srgbClr val="9DB2C6">
                <a:alpha val="30000"/>
              </a:srgbClr>
            </a:outerShdw>
          </a:effectLst>
        </p:spPr>
      </p:sp>
      <p:pic>
        <p:nvPicPr>
          <p:cNvPr id="4" name="Image 0" descr="icons/bus-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7669" y="1602029"/>
            <a:ext cx="499262" cy="49926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2697480"/>
            <a:ext cx="10424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Transporte público mais transparente para Aracaju.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777240" y="44348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Escaneou. Viu o ônibus chegando. </a:t>
            </a:r>
            <a:pPr indent="0" marL="0">
              <a:buNone/>
            </a:pPr>
            <a:r>
              <a:rPr lang="en-US" sz="1800" b="1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Simples assim.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822960" y="6035040"/>
            <a:ext cx="7315200" cy="0"/>
          </a:xfrm>
          <a:prstGeom prst="line">
            <a:avLst/>
          </a:prstGeom>
          <a:noFill/>
          <a:ln w="28575">
            <a:solidFill>
              <a:srgbClr val="4E7C9E"/>
            </a:solidFill>
            <a:prstDash val="dash"/>
          </a:ln>
        </p:spPr>
      </p:sp>
      <p:sp>
        <p:nvSpPr>
          <p:cNvPr id="8" name="Shape 5"/>
          <p:cNvSpPr/>
          <p:nvPr/>
        </p:nvSpPr>
        <p:spPr>
          <a:xfrm>
            <a:off x="758952" y="5971032"/>
            <a:ext cx="128016" cy="128016"/>
          </a:xfrm>
          <a:prstGeom prst="ellipse">
            <a:avLst/>
          </a:prstGeom>
          <a:solidFill>
            <a:srgbClr val="4E7C9E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197352" y="5971032"/>
            <a:ext cx="128016" cy="128016"/>
          </a:xfrm>
          <a:prstGeom prst="ellipse">
            <a:avLst/>
          </a:prstGeom>
          <a:solidFill>
            <a:srgbClr val="4E7C9E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635752" y="5971032"/>
            <a:ext cx="128016" cy="128016"/>
          </a:xfrm>
          <a:prstGeom prst="ellipse">
            <a:avLst/>
          </a:prstGeom>
          <a:solidFill>
            <a:srgbClr val="4E7C9E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074152" y="5971032"/>
            <a:ext cx="128016" cy="128016"/>
          </a:xfrm>
          <a:prstGeom prst="ellipse">
            <a:avLst/>
          </a:prstGeom>
          <a:solidFill>
            <a:srgbClr val="4E7C9E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102352" y="5779008"/>
            <a:ext cx="512064" cy="512064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13" name="Image 1" descr="icons/bus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368" y="5907024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589520" y="62636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C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Inteligente · SMTT Aracaju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SMTT Aracaju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Bus Inteligente</dc:creator>
  <cp:lastModifiedBy>Bus Inteligente</cp:lastModifiedBy>
  <cp:revision>1</cp:revision>
  <dcterms:created xsi:type="dcterms:W3CDTF">2026-07-15T10:55:24Z</dcterms:created>
  <dcterms:modified xsi:type="dcterms:W3CDTF">2026-07-15T10:55:24Z</dcterms:modified>
</cp:coreProperties>
</file>